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80" r:id="rId15"/>
    <p:sldId id="277"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94686"/>
  </p:normalViewPr>
  <p:slideViewPr>
    <p:cSldViewPr snapToGrid="0">
      <p:cViewPr>
        <p:scale>
          <a:sx n="100" d="100"/>
          <a:sy n="100" d="100"/>
        </p:scale>
        <p:origin x="77" y="-7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anikilesh@gmail.com" userId="be50916d2ca88bb6" providerId="LiveId" clId="{872FA5D5-C64D-4D49-B04E-1925758DF6CD}"/>
    <pc:docChg chg="modSld">
      <pc:chgData name="vijayanikilesh@gmail.com" userId="be50916d2ca88bb6" providerId="LiveId" clId="{872FA5D5-C64D-4D49-B04E-1925758DF6CD}" dt="2026-02-02T10:25:38.592" v="0" actId="1076"/>
      <pc:docMkLst>
        <pc:docMk/>
      </pc:docMkLst>
      <pc:sldChg chg="modSp mod">
        <pc:chgData name="vijayanikilesh@gmail.com" userId="be50916d2ca88bb6" providerId="LiveId" clId="{872FA5D5-C64D-4D49-B04E-1925758DF6CD}" dt="2026-02-02T10:25:38.592" v="0" actId="1076"/>
        <pc:sldMkLst>
          <pc:docMk/>
          <pc:sldMk cId="0" sldId="262"/>
        </pc:sldMkLst>
        <pc:picChg chg="mod">
          <ac:chgData name="vijayanikilesh@gmail.com" userId="be50916d2ca88bb6" providerId="LiveId" clId="{872FA5D5-C64D-4D49-B04E-1925758DF6CD}" dt="2026-02-02T10:25:38.592" v="0" actId="1076"/>
          <ac:picMkLst>
            <pc:docMk/>
            <pc:sldMk cId="0" sldId="262"/>
            <ac:picMk id="4" creationId="{AA868F88-0E7B-D413-45C7-4B8F4B66B9F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docs.langflow.org/" TargetMode="External"/><Relationship Id="rId5" Type="http://schemas.openxmlformats.org/officeDocument/2006/relationships/hyperlink" Target="https://www.ibm.com/granite" TargetMode="External"/><Relationship Id="rId4" Type="http://schemas.openxmlformats.org/officeDocument/2006/relationships/hyperlink" Target="https://www.ibm.com/docs/en/watsonx"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a:t>
            </a:r>
            <a:r>
              <a:rPr lang="en-US" dirty="0" err="1"/>
              <a:t>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endParaRPr lang="en-US" b="1" i="1" dirty="0"/>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81943" y="1219200"/>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i="0" u="none" strike="noStrike" cap="none" dirty="0">
                <a:solidFill>
                  <a:srgbClr val="1F3864"/>
                </a:solidFill>
                <a:latin typeface="Times New Roman"/>
                <a:ea typeface="Times New Roman"/>
                <a:cs typeface="Times New Roman"/>
                <a:sym typeface="Times New Roman"/>
              </a:rPr>
              <a:t>SKYMINDS</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190457" y="1490505"/>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29900743"/>
              </p:ext>
            </p:extLst>
          </p:nvPr>
        </p:nvGraphicFramePr>
        <p:xfrm>
          <a:off x="1596852" y="1942025"/>
          <a:ext cx="7230400" cy="4118535"/>
        </p:xfrm>
        <a:graphic>
          <a:graphicData uri="http://schemas.openxmlformats.org/drawingml/2006/table">
            <a:tbl>
              <a:tblPr>
                <a:noFill/>
                <a:tableStyleId>{0AAD8F4D-43EB-41E5-8A38-28AB6DFB1B60}</a:tableStyleId>
              </a:tblPr>
              <a:tblGrid>
                <a:gridCol w="1589125">
                  <a:extLst>
                    <a:ext uri="{9D8B030D-6E8A-4147-A177-3AD203B41FA5}">
                      <a16:colId xmlns:a16="http://schemas.microsoft.com/office/drawing/2014/main" val="20000"/>
                    </a:ext>
                  </a:extLst>
                </a:gridCol>
                <a:gridCol w="1880425">
                  <a:extLst>
                    <a:ext uri="{9D8B030D-6E8A-4147-A177-3AD203B41FA5}">
                      <a16:colId xmlns:a16="http://schemas.microsoft.com/office/drawing/2014/main" val="20002"/>
                    </a:ext>
                  </a:extLst>
                </a:gridCol>
                <a:gridCol w="1880425">
                  <a:extLst>
                    <a:ext uri="{9D8B030D-6E8A-4147-A177-3AD203B41FA5}">
                      <a16:colId xmlns:a16="http://schemas.microsoft.com/office/drawing/2014/main" val="20003"/>
                    </a:ext>
                  </a:extLst>
                </a:gridCol>
                <a:gridCol w="1880425">
                  <a:extLst>
                    <a:ext uri="{9D8B030D-6E8A-4147-A177-3AD203B41FA5}">
                      <a16:colId xmlns:a16="http://schemas.microsoft.com/office/drawing/2014/main" val="20004"/>
                    </a:ext>
                  </a:extLst>
                </a:gridCol>
              </a:tblGrid>
              <a:tr h="791500">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970950">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IN" dirty="0"/>
                        <a:t>Vijaya Nikilesh        YM </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IN" dirty="0"/>
                        <a:t>vijayanikilesh@gmail.com</a:t>
                      </a:r>
                      <a:endParaRPr lang="en-US"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IN" dirty="0"/>
                        <a:t>8660467851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262225">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err="1"/>
                        <a:t>Talanki</a:t>
                      </a:r>
                      <a:r>
                        <a:rPr lang="en-IN" dirty="0"/>
                        <a:t> Varshini</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Varshini@kssem.edu.in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8106989509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970950">
                <a:tc>
                  <a:txBody>
                    <a:bodyPr/>
                    <a:lstStyle/>
                    <a:p>
                      <a:pPr marL="0" marR="0" lvl="0" indent="0" algn="l" rtl="0">
                        <a:spcBef>
                          <a:spcPts val="0"/>
                        </a:spcBef>
                        <a:spcAft>
                          <a:spcPts val="0"/>
                        </a:spcAft>
                        <a:buNone/>
                      </a:pP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35A14528-62DA-93AE-91FA-D34F6F4326D0}"/>
              </a:ext>
            </a:extLst>
          </p:cNvPr>
          <p:cNvPicPr>
            <a:picLocks noChangeAspect="1"/>
          </p:cNvPicPr>
          <p:nvPr/>
        </p:nvPicPr>
        <p:blipFill>
          <a:blip r:embed="rId4"/>
          <a:stretch>
            <a:fillRect/>
          </a:stretch>
        </p:blipFill>
        <p:spPr>
          <a:xfrm>
            <a:off x="3672840" y="3840479"/>
            <a:ext cx="1188720" cy="1262797"/>
          </a:xfrm>
          <a:prstGeom prst="rect">
            <a:avLst/>
          </a:prstGeom>
        </p:spPr>
      </p:pic>
      <p:pic>
        <p:nvPicPr>
          <p:cNvPr id="7" name="Picture 6">
            <a:extLst>
              <a:ext uri="{FF2B5EF4-FFF2-40B4-BE49-F238E27FC236}">
                <a16:creationId xmlns:a16="http://schemas.microsoft.com/office/drawing/2014/main" id="{2D7D8AAA-7199-D491-F75E-E4BC358DF449}"/>
              </a:ext>
            </a:extLst>
          </p:cNvPr>
          <p:cNvPicPr>
            <a:picLocks noChangeAspect="1"/>
          </p:cNvPicPr>
          <p:nvPr/>
        </p:nvPicPr>
        <p:blipFill>
          <a:blip r:embed="rId5"/>
          <a:stretch>
            <a:fillRect/>
          </a:stretch>
        </p:blipFill>
        <p:spPr>
          <a:xfrm>
            <a:off x="3341198" y="2883195"/>
            <a:ext cx="1520362" cy="95728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4672" y="1188720"/>
            <a:ext cx="7616952" cy="3631763"/>
          </a:xfrm>
          <a:prstGeom prst="rect">
            <a:avLst/>
          </a:prstGeom>
          <a:noFill/>
        </p:spPr>
        <p:txBody>
          <a:bodyPr wrap="square" rtlCol="0">
            <a:spAutoFit/>
          </a:bodyPr>
          <a:lstStyle/>
          <a:p>
            <a:pPr algn="just"/>
            <a:endParaRPr lang="en-US" sz="1800"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Intelligent AI System for Pest and Disease Risk Assessment</a:t>
            </a:r>
          </a:p>
          <a:p>
            <a:pPr algn="just"/>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Agriculture productivity is heavily affected by pests and crop diseases, which are influenced by environmental conditions, soil characteristics, and seasonal changes. Farmers often lack intelligent tools to assess pest and disease risk at an early stage. Traditional methods rely on manual inspection and generic advisories, which are often late, inaccurate, or not location-specific. There is a need for an AI-driven system that can analyze crop, soil, climate, and environmental data to assess pest and disease risk and provide early, actionable guidance to farmers.</a:t>
            </a:r>
          </a:p>
          <a:p>
            <a:endParaRPr lang="en-IN" dirty="0"/>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44769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1005840" y="1584102"/>
            <a:ext cx="10268712" cy="1969770"/>
          </a:xfrm>
          <a:prstGeom prst="rect">
            <a:avLst/>
          </a:prstGeom>
          <a:noFill/>
        </p:spPr>
        <p:txBody>
          <a:bodyPr wrap="square" rtlCol="0">
            <a:spAutoFit/>
          </a:bodyPr>
          <a:lstStyle/>
          <a:p>
            <a:pPr algn="just"/>
            <a:r>
              <a:rPr lang="en-US" sz="1800" dirty="0">
                <a:latin typeface="Times New Roman" panose="02020603050405020304" pitchFamily="18" charset="0"/>
                <a:cs typeface="Times New Roman" panose="02020603050405020304" pitchFamily="18" charset="0"/>
              </a:rPr>
              <a:t>We propose an AI-based system that helps farmers identify pest and disease risk at an early stage. The system uses Agentic AI built with </a:t>
            </a:r>
            <a:r>
              <a:rPr lang="en-US" sz="1800" dirty="0" err="1">
                <a:latin typeface="Times New Roman" panose="02020603050405020304" pitchFamily="18" charset="0"/>
                <a:cs typeface="Times New Roman" panose="02020603050405020304" pitchFamily="18" charset="0"/>
              </a:rPr>
              <a:t>LangFlow</a:t>
            </a:r>
            <a:r>
              <a:rPr lang="en-US" sz="1800" dirty="0">
                <a:latin typeface="Times New Roman" panose="02020603050405020304" pitchFamily="18" charset="0"/>
                <a:cs typeface="Times New Roman" panose="02020603050405020304" pitchFamily="18" charset="0"/>
              </a:rPr>
              <a:t> and IBM watsonx.ai, where multiple AI agents work together like agricultural experts. Farmers provide information such as crop type, soil condition, climate, and location. The system analyzes soil and environmental conditions to assess pest and disease risk and predicts the risk level as low, medium, or high. It also identifies possible pests or diseases that may affect the crop. Finally, the system provides simple, farmer-friendly advice to reduce crop loss and improve agricultural yield.</a:t>
            </a:r>
          </a:p>
          <a:p>
            <a:endParaRPr lang="en-IN" dirty="0"/>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05840" y="1584102"/>
            <a:ext cx="10268712" cy="1969770"/>
          </a:xfrm>
          <a:prstGeom prst="rect">
            <a:avLst/>
          </a:prstGeom>
          <a:noFill/>
        </p:spPr>
        <p:txBody>
          <a:bodyPr wrap="square" rtlCol="0">
            <a:spAutoFit/>
          </a:bodyPr>
          <a:lstStyle/>
          <a:p>
            <a:pPr algn="just"/>
            <a:r>
              <a:rPr lang="en-US" sz="1800" dirty="0">
                <a:latin typeface="Times New Roman" panose="02020603050405020304" pitchFamily="18" charset="0"/>
                <a:cs typeface="Times New Roman" panose="02020603050405020304" pitchFamily="18" charset="0"/>
              </a:rPr>
              <a:t>Farmers are unable to effectively interpret complex environmental factors such as temperature, humidity, rainfall, soil type, and seasonal patterns to assess pest and disease risk. Existing agricultural advisory systems mainly provide generic recommendations without considering crop-specific, soil-specific, and climate-aware risk assessment. There is no integrated system that predicts pest and disease risk early and converts it into simple, farmer-friendly advisory. Hence, there is a strong need for an intelligent, explainable, and agent-based AI system that supports early risk detection and preventive decision-making in agriculture.</a:t>
            </a:r>
          </a:p>
          <a:p>
            <a:endParaRPr lang="en-IN" dirty="0"/>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524940"/>
            <a:ext cx="549643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1" dirty="0"/>
          </a:p>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1005840" y="1584102"/>
            <a:ext cx="10268712" cy="1692771"/>
          </a:xfrm>
          <a:prstGeom prst="rect">
            <a:avLst/>
          </a:prstGeom>
          <a:noFill/>
        </p:spPr>
        <p:txBody>
          <a:bodyPr wrap="square" rtlCol="0">
            <a:spAutoFit/>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Farmers</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Agricultural Extension Officers</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Rural Advisory Centers</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Agri-tech platforms</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Government agriculture departments</a:t>
            </a:r>
          </a:p>
          <a:p>
            <a:endParaRPr lang="en-IN" dirty="0"/>
          </a:p>
        </p:txBody>
      </p:sp>
      <p:sp>
        <p:nvSpPr>
          <p:cNvPr id="3" name="TextBox 2">
            <a:extLst>
              <a:ext uri="{FF2B5EF4-FFF2-40B4-BE49-F238E27FC236}">
                <a16:creationId xmlns:a16="http://schemas.microsoft.com/office/drawing/2014/main" id="{F987C414-2D49-9E5D-A5D6-CF94524B9BE5}"/>
              </a:ext>
            </a:extLst>
          </p:cNvPr>
          <p:cNvSpPr txBox="1"/>
          <p:nvPr/>
        </p:nvSpPr>
        <p:spPr>
          <a:xfrm>
            <a:off x="1034441" y="524940"/>
            <a:ext cx="549643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1" dirty="0"/>
          </a:p>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678204"/>
          </a:xfrm>
          <a:prstGeom prst="rect">
            <a:avLst/>
          </a:prstGeom>
          <a:noFill/>
        </p:spPr>
        <p:txBody>
          <a:bodyPr wrap="square" rtlCol="0">
            <a:spAutoFit/>
          </a:bodyPr>
          <a:lstStyle/>
          <a:p>
            <a:pPr marL="285750" indent="-285750">
              <a:buFont typeface="Arial" panose="020B0604020202020204" pitchFamily="34" charset="0"/>
              <a:buChar char="•"/>
            </a:pPr>
            <a:r>
              <a:rPr lang="en-US" sz="1800" dirty="0" err="1"/>
              <a:t>Langflow</a:t>
            </a:r>
            <a:r>
              <a:rPr lang="en-US" sz="1800" dirty="0"/>
              <a:t> platform</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Langflow</a:t>
            </a:r>
            <a:r>
              <a:rPr lang="en-US" sz="1800" dirty="0"/>
              <a:t> component name –  Agent  , Chat input , Chat output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a:t>
            </a:r>
            <a:r>
              <a:rPr lang="en-US" sz="1800" dirty="0" err="1"/>
              <a:t>Grainte</a:t>
            </a:r>
            <a:r>
              <a:rPr lang="en-US" sz="1800" dirty="0"/>
              <a:t> model -  for </a:t>
            </a:r>
            <a:r>
              <a:rPr lang="en-US" sz="1800" dirty="0" err="1"/>
              <a:t>eg</a:t>
            </a:r>
            <a:r>
              <a:rPr lang="en-US" sz="1800" dirty="0"/>
              <a:t> – ibm-granite-3-2-8b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Cloud</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RAG if used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Watsonx.ai</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Watsonx</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2"/>
            <a:ext cx="8679656" cy="4850933"/>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p>
          <a:p>
            <a:pPr lvl="0" algn="just" eaLnBrk="0" fontAlgn="base" hangingPunct="0">
              <a:spcBef>
                <a:spcPct val="0"/>
              </a:spcBef>
              <a:spcAft>
                <a:spcPct val="0"/>
              </a:spcAft>
              <a:buClr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Uses a </a:t>
            </a:r>
            <a:r>
              <a:rPr lang="en-US" altLang="en-US" sz="1800" b="1" dirty="0">
                <a:solidFill>
                  <a:schemeClr val="tx1"/>
                </a:solidFill>
                <a:latin typeface="Times New Roman" panose="02020603050405020304" pitchFamily="18" charset="0"/>
                <a:cs typeface="Times New Roman" panose="02020603050405020304" pitchFamily="18" charset="0"/>
              </a:rPr>
              <a:t>multi-agent GenAI architecture</a:t>
            </a:r>
            <a:r>
              <a:rPr lang="en-US" altLang="en-US" sz="1800" dirty="0">
                <a:solidFill>
                  <a:schemeClr val="tx1"/>
                </a:solidFill>
                <a:latin typeface="Times New Roman" panose="02020603050405020304" pitchFamily="18" charset="0"/>
                <a:cs typeface="Times New Roman" panose="02020603050405020304" pitchFamily="18" charset="0"/>
              </a:rPr>
              <a:t> instead of a single prompt-based system</a:t>
            </a:r>
          </a:p>
          <a:p>
            <a:pPr lvl="0" algn="just" eaLnBrk="0" fontAlgn="base" hangingPunct="0">
              <a:spcBef>
                <a:spcPct val="0"/>
              </a:spcBef>
              <a:spcAft>
                <a:spcPct val="0"/>
              </a:spcAft>
              <a:buClr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Integrates crop, soil, climate, and risk analysis for pest and disease assessment</a:t>
            </a:r>
          </a:p>
          <a:p>
            <a:pPr lvl="0" algn="just" eaLnBrk="0" fontAlgn="base" hangingPunct="0">
              <a:spcBef>
                <a:spcPct val="0"/>
              </a:spcBef>
              <a:spcAft>
                <a:spcPct val="0"/>
              </a:spcAft>
              <a:buClr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Provides </a:t>
            </a:r>
            <a:r>
              <a:rPr lang="en-US" altLang="en-US" sz="1800" b="1" dirty="0">
                <a:solidFill>
                  <a:schemeClr val="tx1"/>
                </a:solidFill>
                <a:latin typeface="Times New Roman" panose="02020603050405020304" pitchFamily="18" charset="0"/>
                <a:cs typeface="Times New Roman" panose="02020603050405020304" pitchFamily="18" charset="0"/>
              </a:rPr>
              <a:t>early risk prediction</a:t>
            </a:r>
            <a:r>
              <a:rPr lang="en-US" altLang="en-US" sz="1800" dirty="0">
                <a:solidFill>
                  <a:schemeClr val="tx1"/>
                </a:solidFill>
                <a:latin typeface="Times New Roman" panose="02020603050405020304" pitchFamily="18" charset="0"/>
                <a:cs typeface="Times New Roman" panose="02020603050405020304" pitchFamily="18" charset="0"/>
              </a:rPr>
              <a:t> rather than post-damage diagnosis</a:t>
            </a:r>
          </a:p>
          <a:p>
            <a:pPr lvl="0" algn="just" eaLnBrk="0" fontAlgn="base" hangingPunct="0">
              <a:spcBef>
                <a:spcPct val="0"/>
              </a:spcBef>
              <a:spcAft>
                <a:spcPct val="0"/>
              </a:spcAft>
              <a:buClr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Produces </a:t>
            </a:r>
            <a:r>
              <a:rPr lang="en-US" altLang="en-US" sz="1800" b="1" dirty="0">
                <a:solidFill>
                  <a:schemeClr val="tx1"/>
                </a:solidFill>
                <a:latin typeface="Times New Roman" panose="02020603050405020304" pitchFamily="18" charset="0"/>
                <a:cs typeface="Times New Roman" panose="02020603050405020304" pitchFamily="18" charset="0"/>
              </a:rPr>
              <a:t>explainable and farmer-friendly outputs</a:t>
            </a:r>
            <a:endParaRPr lang="en-US" altLang="en-US" sz="18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Modular agent design allows easy scalability across crops and regions</a:t>
            </a:r>
          </a:p>
          <a:p>
            <a:pPr marL="0" marR="0" lvl="0" indent="0" algn="l" rtl="0">
              <a:lnSpc>
                <a:spcPct val="157142"/>
              </a:lnSpc>
              <a:spcBef>
                <a:spcPts val="0"/>
              </a:spcBef>
              <a:spcAft>
                <a:spcPts val="0"/>
              </a:spcAft>
              <a:buClr>
                <a:srgbClr val="051D3A"/>
              </a:buClr>
              <a:buSzPts val="3500"/>
              <a:buFont typeface="Times New Roman"/>
              <a:buNone/>
            </a:pPr>
            <a:endParaRPr lang="en-US" sz="3500" b="1" i="0" u="none" strike="noStrike" cap="none" dirty="0">
              <a:solidFill>
                <a:srgbClr val="051D3A"/>
              </a:solidFill>
              <a:latin typeface="Times New Roman"/>
              <a:ea typeface="Times New Roman"/>
              <a:cs typeface="Times New Roman"/>
              <a:sym typeface="Times New Roman"/>
            </a:endParaRPr>
          </a:p>
          <a:p>
            <a:pPr marL="457200" marR="0" lvl="0" indent="-457200" algn="l" rtl="0">
              <a:lnSpc>
                <a:spcPct val="157142"/>
              </a:lnSpc>
              <a:spcBef>
                <a:spcPts val="0"/>
              </a:spcBef>
              <a:spcAft>
                <a:spcPts val="0"/>
              </a:spcAft>
              <a:buClr>
                <a:srgbClr val="051D3A"/>
              </a:buClr>
              <a:buSzPts val="3500"/>
              <a:buFont typeface="Arial" panose="020B0604020202020204" pitchFamily="34" charset="0"/>
              <a:buChar char="•"/>
            </a:pPr>
            <a:endParaRPr lang="en-US" sz="3500" b="1" i="0" u="none" strike="noStrike" cap="none" dirty="0">
              <a:solidFill>
                <a:srgbClr val="051D3A"/>
              </a:solidFill>
              <a:latin typeface="Times New Roman"/>
              <a:ea typeface="Times New Roman"/>
              <a:cs typeface="Times New Roman"/>
              <a:sym typeface="Times New Roman"/>
            </a:endParaRPr>
          </a:p>
          <a:p>
            <a:pPr marL="0" marR="0" lvl="0" indent="0" algn="l" rtl="0">
              <a:lnSpc>
                <a:spcPct val="157142"/>
              </a:lnSpc>
              <a:spcBef>
                <a:spcPts val="0"/>
              </a:spcBef>
              <a:spcAft>
                <a:spcPts val="0"/>
              </a:spcAft>
              <a:buClr>
                <a:srgbClr val="051D3A"/>
              </a:buClr>
              <a:buSzPts val="3500"/>
              <a:buFont typeface="Times New Roman"/>
              <a:buNone/>
            </a:pPr>
            <a:endParaRPr lang="en-US"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109984" y="1531474"/>
            <a:ext cx="11226796" cy="84721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endParaRPr dirty="0"/>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AA868F88-0E7B-D413-45C7-4B8F4B66B9F1}"/>
              </a:ext>
            </a:extLst>
          </p:cNvPr>
          <p:cNvPicPr>
            <a:picLocks noChangeAspect="1"/>
          </p:cNvPicPr>
          <p:nvPr/>
        </p:nvPicPr>
        <p:blipFill>
          <a:blip r:embed="rId4"/>
          <a:stretch>
            <a:fillRect/>
          </a:stretch>
        </p:blipFill>
        <p:spPr>
          <a:xfrm>
            <a:off x="1003545" y="975360"/>
            <a:ext cx="9753600" cy="4762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 Used </a:t>
            </a:r>
            <a:endParaRPr lang="en-US" sz="2400" b="1" i="0" u="none" strike="noStrike" cap="none">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64820" y="944880"/>
            <a:ext cx="8980932" cy="6801862"/>
          </a:xfrm>
          <a:prstGeom prst="rect">
            <a:avLst/>
          </a:prstGeom>
          <a:noFill/>
        </p:spPr>
        <p:txBody>
          <a:bodyPr wrap="square" rtlCol="0">
            <a:spAutoFit/>
          </a:bodyPr>
          <a:lstStyle/>
          <a:p>
            <a:pPr algn="just"/>
            <a:r>
              <a:rPr lang="en-US" b="1" dirty="0"/>
              <a:t>1) </a:t>
            </a:r>
            <a:r>
              <a:rPr lang="en-US" sz="1800" b="1" dirty="0">
                <a:latin typeface="Times New Roman" panose="02020603050405020304" pitchFamily="18" charset="0"/>
                <a:cs typeface="Times New Roman" panose="02020603050405020304" pitchFamily="18" charset="0"/>
              </a:rPr>
              <a:t>Chat Input</a:t>
            </a:r>
          </a:p>
          <a:p>
            <a:pPr algn="just"/>
            <a:r>
              <a:rPr lang="en-US" sz="1800" dirty="0">
                <a:latin typeface="Times New Roman" panose="02020603050405020304" pitchFamily="18" charset="0"/>
                <a:cs typeface="Times New Roman" panose="02020603050405020304" pitchFamily="18" charset="0"/>
              </a:rPr>
              <a:t>This component serves as the entry point for the system. It captures farmer-provided information such as crop type, soil condition, environmental factors, and location details, which are passed to the agent pipeline for analysis.</a:t>
            </a:r>
          </a:p>
          <a:p>
            <a:pPr algn="just"/>
            <a:endParaRPr lang="en-US" sz="1800" b="1"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2) IBM watsonx.ai Agent</a:t>
            </a:r>
          </a:p>
          <a:p>
            <a:pPr algn="just"/>
            <a:r>
              <a:rPr lang="en-US" sz="1800" dirty="0">
                <a:latin typeface="Times New Roman" panose="02020603050405020304" pitchFamily="18" charset="0"/>
                <a:cs typeface="Times New Roman" panose="02020603050405020304" pitchFamily="18" charset="0"/>
              </a:rPr>
              <a:t>Multiple agent components act as agricultural domain experts. Each agent uses IBM Granite foundation models through watsonx.ai and follows specific agent instructions to perform tasks such as context understanding, risk assessment, disease identification, and advisory generation.</a:t>
            </a:r>
          </a:p>
          <a:p>
            <a:pPr algn="just"/>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3) Chat Output</a:t>
            </a:r>
          </a:p>
          <a:p>
            <a:pPr algn="just"/>
            <a:r>
              <a:rPr lang="en-US" sz="1800" dirty="0">
                <a:latin typeface="Times New Roman" panose="02020603050405020304" pitchFamily="18" charset="0"/>
                <a:cs typeface="Times New Roman" panose="02020603050405020304" pitchFamily="18" charset="0"/>
              </a:rPr>
              <a:t>This component displays the final farmer-friendly advisory, including pest and disease risk level, possible issues, and recommended actions.</a:t>
            </a:r>
          </a:p>
          <a:p>
            <a:pPr algn="just"/>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4) Other Components Used</a:t>
            </a:r>
          </a:p>
          <a:p>
            <a:pPr algn="just"/>
            <a:r>
              <a:rPr lang="en-US" sz="1800" dirty="0">
                <a:latin typeface="Times New Roman" panose="02020603050405020304" pitchFamily="18" charset="0"/>
                <a:cs typeface="Times New Roman" panose="02020603050405020304" pitchFamily="18" charset="0"/>
              </a:rPr>
              <a:t>Agent Instructions – Define the role and behavior of each agent</a:t>
            </a:r>
          </a:p>
          <a:p>
            <a:pPr algn="just"/>
            <a:r>
              <a:rPr lang="en-US" sz="1800" dirty="0">
                <a:latin typeface="Times New Roman" panose="02020603050405020304" pitchFamily="18" charset="0"/>
                <a:cs typeface="Times New Roman" panose="02020603050405020304" pitchFamily="18" charset="0"/>
              </a:rPr>
              <a:t>Language Model (IBM watsonx.ai) – Provides reasoning and expert knowledge</a:t>
            </a:r>
          </a:p>
          <a:p>
            <a:pPr algn="just"/>
            <a:r>
              <a:rPr lang="en-US" sz="1800" dirty="0">
                <a:latin typeface="Times New Roman" panose="02020603050405020304" pitchFamily="18" charset="0"/>
                <a:cs typeface="Times New Roman" panose="02020603050405020304" pitchFamily="18" charset="0"/>
              </a:rPr>
              <a:t>Sequential Agent Flow – Ensures step-by-step decision making</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1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1B2056A7-359A-59F9-72F6-78A31BA6A4D8}"/>
              </a:ext>
            </a:extLst>
          </p:cNvPr>
          <p:cNvPicPr>
            <a:picLocks noChangeAspect="1"/>
          </p:cNvPicPr>
          <p:nvPr/>
        </p:nvPicPr>
        <p:blipFill>
          <a:blip r:embed="rId4"/>
          <a:stretch>
            <a:fillRect/>
          </a:stretch>
        </p:blipFill>
        <p:spPr>
          <a:xfrm>
            <a:off x="464332" y="1363801"/>
            <a:ext cx="11263336" cy="413039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1065320" y="138955"/>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2</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5E1EF4A0-2FB6-FA01-48E6-1FC4704F04FD}"/>
              </a:ext>
            </a:extLst>
          </p:cNvPr>
          <p:cNvPicPr>
            <a:picLocks noChangeAspect="1"/>
          </p:cNvPicPr>
          <p:nvPr/>
        </p:nvPicPr>
        <p:blipFill>
          <a:blip r:embed="rId4"/>
          <a:stretch>
            <a:fillRect/>
          </a:stretch>
        </p:blipFill>
        <p:spPr>
          <a:xfrm>
            <a:off x="960120" y="899161"/>
            <a:ext cx="9052560" cy="4649468"/>
          </a:xfrm>
          <a:prstGeom prst="rect">
            <a:avLst/>
          </a:prstGeom>
        </p:spPr>
      </p:pic>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1</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BDCF0B6E-82A5-A109-A40A-ECBA3F785AF6}"/>
              </a:ext>
            </a:extLst>
          </p:cNvPr>
          <p:cNvPicPr>
            <a:picLocks noChangeAspect="1"/>
          </p:cNvPicPr>
          <p:nvPr/>
        </p:nvPicPr>
        <p:blipFill>
          <a:blip r:embed="rId4"/>
          <a:stretch>
            <a:fillRect/>
          </a:stretch>
        </p:blipFill>
        <p:spPr>
          <a:xfrm>
            <a:off x="369824" y="1535227"/>
            <a:ext cx="5726176" cy="3021533"/>
          </a:xfrm>
          <a:prstGeom prst="rect">
            <a:avLst/>
          </a:prstGeom>
        </p:spPr>
      </p:pic>
      <p:pic>
        <p:nvPicPr>
          <p:cNvPr id="8" name="Picture 7">
            <a:extLst>
              <a:ext uri="{FF2B5EF4-FFF2-40B4-BE49-F238E27FC236}">
                <a16:creationId xmlns:a16="http://schemas.microsoft.com/office/drawing/2014/main" id="{914D385E-BE62-9625-F5B9-2589A632F626}"/>
              </a:ext>
            </a:extLst>
          </p:cNvPr>
          <p:cNvPicPr>
            <a:picLocks noChangeAspect="1"/>
          </p:cNvPicPr>
          <p:nvPr/>
        </p:nvPicPr>
        <p:blipFill>
          <a:blip r:embed="rId5"/>
          <a:stretch>
            <a:fillRect/>
          </a:stretch>
        </p:blipFill>
        <p:spPr>
          <a:xfrm>
            <a:off x="6249837" y="1535227"/>
            <a:ext cx="4205226" cy="3024242"/>
          </a:xfrm>
          <a:prstGeom prst="rect">
            <a:avLst/>
          </a:prstGeom>
        </p:spPr>
      </p:pic>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lvl="0" algn="just">
              <a:lnSpc>
                <a:spcPct val="162162"/>
              </a:lnSpc>
              <a:buClr>
                <a:srgbClr val="2B3541"/>
              </a:buClr>
              <a:buSzPts val="1850"/>
            </a:pPr>
            <a:r>
              <a:rPr lang="en-US" sz="1800" dirty="0">
                <a:latin typeface="Times New Roman" panose="02020603050405020304" pitchFamily="18" charset="0"/>
                <a:cs typeface="Times New Roman" panose="02020603050405020304" pitchFamily="18" charset="0"/>
              </a:rPr>
              <a:t>The system can be further enhanced by integrating </a:t>
            </a:r>
            <a:r>
              <a:rPr lang="en-US" sz="1800" b="1" dirty="0">
                <a:latin typeface="Times New Roman" panose="02020603050405020304" pitchFamily="18" charset="0"/>
                <a:cs typeface="Times New Roman" panose="02020603050405020304" pitchFamily="18" charset="0"/>
              </a:rPr>
              <a:t>real-time weather and climate APIs</a:t>
            </a:r>
            <a:r>
              <a:rPr lang="en-US" sz="1800" dirty="0">
                <a:latin typeface="Times New Roman" panose="02020603050405020304" pitchFamily="18" charset="0"/>
                <a:cs typeface="Times New Roman" panose="02020603050405020304" pitchFamily="18" charset="0"/>
              </a:rPr>
              <a:t> to provide more accurate pest and disease risk predictions. The use of </a:t>
            </a:r>
            <a:r>
              <a:rPr lang="en-US" sz="1800" b="1" dirty="0">
                <a:latin typeface="Times New Roman" panose="02020603050405020304" pitchFamily="18" charset="0"/>
                <a:cs typeface="Times New Roman" panose="02020603050405020304" pitchFamily="18" charset="0"/>
              </a:rPr>
              <a:t>IoT sensors</a:t>
            </a:r>
            <a:r>
              <a:rPr lang="en-US" sz="1800" dirty="0">
                <a:latin typeface="Times New Roman" panose="02020603050405020304" pitchFamily="18" charset="0"/>
                <a:cs typeface="Times New Roman" panose="02020603050405020304" pitchFamily="18" charset="0"/>
              </a:rPr>
              <a:t> can enable live monitoring of soil moisture, temperature, and humidity for better decision-making. The solution can be expanded to support </a:t>
            </a:r>
            <a:r>
              <a:rPr lang="en-US" sz="1800" b="1" dirty="0">
                <a:latin typeface="Times New Roman" panose="02020603050405020304" pitchFamily="18" charset="0"/>
                <a:cs typeface="Times New Roman" panose="02020603050405020304" pitchFamily="18" charset="0"/>
              </a:rPr>
              <a:t>multiple crops and regions</a:t>
            </a:r>
            <a:r>
              <a:rPr lang="en-US" sz="1800" dirty="0">
                <a:latin typeface="Times New Roman" panose="02020603050405020304" pitchFamily="18" charset="0"/>
                <a:cs typeface="Times New Roman" panose="02020603050405020304" pitchFamily="18" charset="0"/>
              </a:rPr>
              <a:t> with region-specific pest and disease knowledge. </a:t>
            </a:r>
            <a:r>
              <a:rPr lang="en-US" sz="1800" b="1" dirty="0">
                <a:latin typeface="Times New Roman" panose="02020603050405020304" pitchFamily="18" charset="0"/>
                <a:cs typeface="Times New Roman" panose="02020603050405020304" pitchFamily="18" charset="0"/>
              </a:rPr>
              <a:t>Regional language support and voice-based interaction</a:t>
            </a:r>
            <a:r>
              <a:rPr lang="en-US" sz="1800" dirty="0">
                <a:latin typeface="Times New Roman" panose="02020603050405020304" pitchFamily="18" charset="0"/>
                <a:cs typeface="Times New Roman" panose="02020603050405020304" pitchFamily="18" charset="0"/>
              </a:rPr>
              <a:t> can improve accessibility for farmers. A </a:t>
            </a:r>
            <a:r>
              <a:rPr lang="en-US" sz="1800" b="1" dirty="0">
                <a:latin typeface="Times New Roman" panose="02020603050405020304" pitchFamily="18" charset="0"/>
                <a:cs typeface="Times New Roman" panose="02020603050405020304" pitchFamily="18" charset="0"/>
              </a:rPr>
              <a:t>mobile application</a:t>
            </a:r>
            <a:r>
              <a:rPr lang="en-US" sz="1800" dirty="0">
                <a:latin typeface="Times New Roman" panose="02020603050405020304" pitchFamily="18" charset="0"/>
                <a:cs typeface="Times New Roman" panose="02020603050405020304" pitchFamily="18" charset="0"/>
              </a:rPr>
              <a:t> can be developed to allow easy access for farmers in rural areas. The system can also be integrated with </a:t>
            </a:r>
            <a:r>
              <a:rPr lang="en-US" sz="1800" b="1" dirty="0">
                <a:latin typeface="Times New Roman" panose="02020603050405020304" pitchFamily="18" charset="0"/>
                <a:cs typeface="Times New Roman" panose="02020603050405020304" pitchFamily="18" charset="0"/>
              </a:rPr>
              <a:t>government agricultural guidelines and policies</a:t>
            </a:r>
            <a:r>
              <a:rPr lang="en-US" sz="1800" dirty="0">
                <a:latin typeface="Times New Roman" panose="02020603050405020304" pitchFamily="18" charset="0"/>
                <a:cs typeface="Times New Roman" panose="02020603050405020304" pitchFamily="18" charset="0"/>
              </a:rPr>
              <a:t> to ensure safe and compliant advisory.</a:t>
            </a:r>
            <a:r>
              <a:rPr lang="en-US" sz="1800" b="0" i="0" u="none" strike="noStrike" cap="none" dirty="0">
                <a:solidFill>
                  <a:srgbClr val="2B3541"/>
                </a:solidFill>
                <a:latin typeface="Times New Roman" panose="02020603050405020304" pitchFamily="18" charset="0"/>
                <a:ea typeface="Times New Roman"/>
                <a:cs typeface="Times New Roman" panose="02020603050405020304" pitchFamily="18" charset="0"/>
                <a:sym typeface="Times New Roman"/>
              </a:rPr>
              <a:t> </a:t>
            </a:r>
            <a:endParaRPr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82732" y="1393947"/>
            <a:ext cx="9690544"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https://github.com/vijayx2521/ibm-hackathonvs.git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app.py file , 2) your_hackthon_problemstatement.pdf file  3) your projectpresntation.pptx file </a:t>
            </a: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420729"/>
            <a:ext cx="6444496" cy="4136031"/>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p>
          <a:p>
            <a:pPr>
              <a:lnSpc>
                <a:spcPct val="157142"/>
              </a:lnSpc>
            </a:pP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D86E9480-AE0D-8F00-984F-1C0F8F53C1E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F2A10B-67AA-AAE6-232F-CFA602CB53A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4" name="Rectangle 2">
            <a:extLst>
              <a:ext uri="{FF2B5EF4-FFF2-40B4-BE49-F238E27FC236}">
                <a16:creationId xmlns:a16="http://schemas.microsoft.com/office/drawing/2014/main" id="{E4B2D704-4D7C-88B0-2747-DBE5F4DBE3DA}"/>
              </a:ext>
            </a:extLst>
          </p:cNvPr>
          <p:cNvSpPr>
            <a:spLocks noChangeArrowheads="1"/>
          </p:cNvSpPr>
          <p:nvPr/>
        </p:nvSpPr>
        <p:spPr bwMode="auto">
          <a:xfrm>
            <a:off x="861060" y="1248817"/>
            <a:ext cx="391645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IBM watsonx.ai Documentation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https://www.ibm.com/docs/en/watsonx</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IBM Granite Foundation Models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5"/>
              </a:rPr>
              <a:t>https://www.ibm.com/granite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LangFlow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Official Documentation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6"/>
              </a:rPr>
              <a:t>https://docs.langflow.org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56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1172</TotalTime>
  <Words>909</Words>
  <Application>Microsoft Office PowerPoint</Application>
  <PresentationFormat>Widescreen</PresentationFormat>
  <Paragraphs>114</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vijayanikilesh@gmail.com</cp:lastModifiedBy>
  <cp:revision>119</cp:revision>
  <dcterms:created xsi:type="dcterms:W3CDTF">2025-07-08T05:06:56Z</dcterms:created>
  <dcterms:modified xsi:type="dcterms:W3CDTF">2026-02-02T10:25:49Z</dcterms:modified>
</cp:coreProperties>
</file>